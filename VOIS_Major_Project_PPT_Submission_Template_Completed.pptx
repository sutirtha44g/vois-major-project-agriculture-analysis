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0" r:id="rId12"/>
    <p:sldId id="344" r:id="rId13"/>
    <p:sldId id="345" r:id="rId14"/>
    <p:sldId id="346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85AB8-0413-451C-9551-18EACD208E7F}" v="377" dt="2026-09-09T17:41:04.688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53" y="82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tirtha44g/VOIS-Major-Project-Agricultur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tirtha44g/VOIS-Major-Project-Agricultur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6" y="3588198"/>
            <a:ext cx="9105900" cy="15292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 : SUTIRTHA GIRI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 : NETAJI SUBHASH ENGINEERING COLLEGE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10145146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dirty="0"/>
              <a:t>Seasonal Agriculture Performance Analysis</a:t>
            </a:r>
            <a:br>
              <a:rPr lang="en-IN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6497753" cy="36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STU6a6050cd2e1271784697037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517587"/>
            <a:ext cx="7889545" cy="477727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 However, raw agricultural data does not clearly explain how agricultural performance changes across seasons or what patterns can be observed in different seasonal conditions.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The problem is to </a:t>
            </a:r>
            <a:r>
              <a:rPr lang="en-IN" sz="1600" dirty="0" err="1"/>
              <a:t>analyze</a:t>
            </a:r>
            <a:r>
              <a:rPr lang="en-IN" sz="1600" dirty="0"/>
              <a:t> the given agricultural dataset and investigate seasonal differences in agricultural performance by identifying meaningful patterns, trends, relationships and variations within the available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Key Questions Addressed:</a:t>
            </a:r>
            <a:endParaRPr lang="en-IN" sz="1600" dirty="0"/>
          </a:p>
          <a:p>
            <a:pPr lvl="0"/>
            <a:r>
              <a:rPr lang="en-IN" sz="1600" dirty="0"/>
              <a:t>How do crop yield and net profit vary across different cropping seasons?</a:t>
            </a:r>
          </a:p>
          <a:p>
            <a:pPr lvl="0"/>
            <a:r>
              <a:rPr lang="en-IN" sz="1600" dirty="0"/>
              <a:t>What are the environmental determinants (rainfall, humidity, temperature) of seasonal performance?</a:t>
            </a:r>
          </a:p>
          <a:p>
            <a:pPr lvl="0"/>
            <a:r>
              <a:rPr lang="en-IN" sz="1600" dirty="0"/>
              <a:t>Which irrigation techniques maximize water efficiency and economic returns?</a:t>
            </a:r>
          </a:p>
          <a:p>
            <a:pPr lvl="0"/>
            <a:r>
              <a:rPr lang="en-IN" sz="1600" dirty="0"/>
              <a:t>Are profitability differences across seasons statistically significant?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4BDD56-69F6-959F-DFAB-E7F4E8C05DA4}"/>
                  </a:ext>
                </a:extLst>
              </p:cNvPr>
              <p:cNvSpPr txBox="1"/>
              <p:nvPr/>
            </p:nvSpPr>
            <p:spPr>
              <a:xfrm>
                <a:off x="688398" y="1697669"/>
                <a:ext cx="10082239" cy="4530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b="1" dirty="0"/>
                  <a:t>Dataset Scope:</a:t>
                </a:r>
                <a:r>
                  <a:rPr lang="en-IN" dirty="0"/>
                  <a:t> </a:t>
                </a:r>
                <a:r>
                  <a:rPr lang="en-IN" dirty="0" err="1"/>
                  <a:t>Analyzes</a:t>
                </a:r>
                <a:r>
                  <a:rPr lang="en-IN" dirty="0"/>
                  <a:t> 4,000 farm-level observations across 28 distinct attributes covering 8 major crop varieties and 8 agricultural states.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Analytical Focus:</a:t>
                </a:r>
                <a:r>
                  <a:rPr lang="en-IN" dirty="0"/>
                  <a:t> Evaluates the interplay between seasonal climate factors, soil health, irrigation efficiency, and economic returns rather than performing a generic dataset overview.</a:t>
                </a:r>
              </a:p>
              <a:p>
                <a:pPr lvl="0"/>
                <a:endParaRPr lang="en-IN" dirty="0"/>
              </a:p>
              <a:p>
                <a:r>
                  <a:rPr lang="en-IN" b="1" dirty="0"/>
                  <a:t>Core Dimensions Investigated:</a:t>
                </a:r>
              </a:p>
              <a:p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Seasonal Yield &amp; Production:</a:t>
                </a:r>
                <a:r>
                  <a:rPr lang="en-IN" dirty="0"/>
                  <a:t> Comparing crop output and stability across Kharif, Rabi, and Zaid.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Environmental Impact:</a:t>
                </a:r>
                <a:r>
                  <a:rPr lang="en-IN" dirty="0"/>
                  <a:t> Evaluating the effects of rainfall, temperature, and humidity on pest/disease risks.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Resource Management:</a:t>
                </a:r>
                <a:r>
                  <a:rPr lang="en-IN" dirty="0"/>
                  <a:t> Benchmarking water efficiency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) across drip, sprinkler, flood, and rainfed systems.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Financial Viability:</a:t>
                </a:r>
                <a:r>
                  <a:rPr lang="en-IN" dirty="0"/>
                  <a:t> Measuring production costs, market revenue, and net margins across crop categories.</a:t>
                </a:r>
                <a:endParaRPr lang="en-IN" b="0" i="0" dirty="0">
                  <a:solidFill>
                    <a:srgbClr val="E3E3E3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4BDD56-69F6-959F-DFAB-E7F4E8C05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8" y="1697669"/>
                <a:ext cx="10082239" cy="4530536"/>
              </a:xfrm>
              <a:prstGeom prst="rect">
                <a:avLst/>
              </a:prstGeom>
              <a:blipFill>
                <a:blip r:embed="rId4"/>
                <a:stretch>
                  <a:fillRect l="-544" t="-806" b="-6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60" y="1991360"/>
            <a:ext cx="7853474" cy="399002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600" b="1" dirty="0"/>
              <a:t>Farmers &amp; Cultivators:</a:t>
            </a:r>
            <a:r>
              <a:rPr lang="en-IN" sz="3600" dirty="0"/>
              <a:t> For selecting the most profitable and high-yielding crops suited to specific seasons.</a:t>
            </a:r>
          </a:p>
          <a:p>
            <a:pPr algn="just">
              <a:lnSpc>
                <a:spcPct val="100000"/>
              </a:lnSpc>
            </a:pPr>
            <a:r>
              <a:rPr lang="en-IN" sz="3600" b="1" dirty="0"/>
              <a:t>Agricultural Planners &amp; Policy Makers:</a:t>
            </a:r>
            <a:r>
              <a:rPr lang="en-IN" sz="3600" dirty="0"/>
              <a:t> For designing regional water distribution plans and seasonal subsidies.</a:t>
            </a:r>
          </a:p>
          <a:p>
            <a:pPr algn="just">
              <a:lnSpc>
                <a:spcPct val="100000"/>
              </a:lnSpc>
            </a:pPr>
            <a:r>
              <a:rPr lang="en-IN" sz="3600" b="1" dirty="0"/>
              <a:t>Agribusinesses &amp; Supply Chain Managers:</a:t>
            </a:r>
            <a:r>
              <a:rPr lang="en-IN" sz="3600" dirty="0"/>
              <a:t> For predicting seasonal commodity supply and market pricing trends. </a:t>
            </a:r>
          </a:p>
          <a:p>
            <a:pPr algn="just">
              <a:lnSpc>
                <a:spcPct val="100000"/>
              </a:lnSpc>
            </a:pPr>
            <a:r>
              <a:rPr lang="en-IN" sz="3600" b="1" dirty="0"/>
              <a:t>Agronomists &amp; Researchers:</a:t>
            </a:r>
            <a:r>
              <a:rPr lang="en-IN" sz="3600" dirty="0"/>
              <a:t> For studying the impact of climate variations and irrigation efficiency on crop yield.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31589" y="1441891"/>
            <a:ext cx="7213831" cy="343802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dirty="0"/>
              <a:t>Technologies used in this project are: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Language:</a:t>
            </a:r>
            <a:r>
              <a:rPr lang="en-IN" dirty="0"/>
              <a:t> Python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Data Manipulation:</a:t>
            </a:r>
            <a:r>
              <a:rPr lang="en-IN" dirty="0"/>
              <a:t> Pandas, NumPy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Data Visualization:</a:t>
            </a:r>
            <a:r>
              <a:rPr lang="en-IN" dirty="0"/>
              <a:t> Matplotlib, Seaborn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Statistical Analysis:</a:t>
            </a:r>
            <a:r>
              <a:rPr lang="en-IN" dirty="0"/>
              <a:t> SciPy (</a:t>
            </a:r>
            <a:r>
              <a:rPr lang="en-IN" dirty="0" err="1"/>
              <a:t>scipy.stats</a:t>
            </a:r>
            <a:r>
              <a:rPr lang="en-IN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Environment:</a:t>
            </a:r>
            <a:r>
              <a:rPr lang="en-IN" dirty="0"/>
              <a:t> Google </a:t>
            </a:r>
            <a:r>
              <a:rPr lang="en-IN" dirty="0" err="1"/>
              <a:t>Colab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70590"/>
            <a:ext cx="11815400" cy="666078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IN" dirty="0"/>
              <a:t>Data Cleaning &amp; Preprocessing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B19D8AC7-3787-4ADB-9212-0808F015C2DD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832788" y="5232154"/>
                <a:ext cx="10090992" cy="1432806"/>
              </a:xfrm>
            </p:spPr>
            <p:txBody>
              <a:bodyPr vert="horz" lIns="91440" tIns="45720" rIns="91440" bIns="45720" rtlCol="0" anchor="t">
                <a:normAutofit fontScale="70000" lnSpcReduction="20000"/>
              </a:bodyPr>
              <a:lstStyle/>
              <a:p>
                <a:pPr lvl="0"/>
                <a:r>
                  <a:rPr lang="en-IN" b="1" dirty="0"/>
                  <a:t>Missing Value Imputation:</a:t>
                </a:r>
                <a:r>
                  <a:rPr lang="en-IN" dirty="0"/>
                  <a:t> Handled missing records in </a:t>
                </a:r>
                <a:r>
                  <a:rPr lang="en-IN" dirty="0" err="1"/>
                  <a:t>Rainfall_mm</a:t>
                </a:r>
                <a:r>
                  <a:rPr lang="en-IN" dirty="0"/>
                  <a:t> (48), </a:t>
                </a:r>
                <a:r>
                  <a:rPr lang="en-IN" dirty="0" err="1"/>
                  <a:t>Soil_Moisture_pct</a:t>
                </a:r>
                <a:r>
                  <a:rPr lang="en-IN" dirty="0"/>
                  <a:t> (40), and </a:t>
                </a:r>
                <a:r>
                  <a:rPr lang="en-IN" dirty="0" err="1"/>
                  <a:t>Yield_Tonnes_Ha</a:t>
                </a:r>
                <a:r>
                  <a:rPr lang="en-IN" dirty="0"/>
                  <a:t> (32).</a:t>
                </a:r>
              </a:p>
              <a:p>
                <a:pPr lvl="0"/>
                <a:r>
                  <a:rPr lang="en-IN" b="1" dirty="0"/>
                  <a:t>Seasonal Logic:</a:t>
                </a:r>
                <a:r>
                  <a:rPr lang="en-IN" dirty="0"/>
                  <a:t> Filled environmental variables using seasonal medians to prevent seasonal skewness. </a:t>
                </a:r>
              </a:p>
              <a:p>
                <a:pPr lvl="0"/>
                <a:r>
                  <a:rPr lang="en-IN" b="1" dirty="0"/>
                  <a:t>Integrity Recalculation:</a:t>
                </a:r>
                <a:r>
                  <a:rPr lang="en-IN" dirty="0"/>
                  <a:t> Recomputed missing yields directly using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/>
                      <m:t>Production</m:t>
                    </m:r>
                    <m:r>
                      <a:rPr lang="en-IN"/>
                      <m:t>/</m:t>
                    </m:r>
                    <m:r>
                      <m:rPr>
                        <m:nor/>
                      </m:rPr>
                      <a:rPr lang="en-IN"/>
                      <m:t>Area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0"/>
                <a:r>
                  <a:rPr lang="en-IN" b="1" dirty="0"/>
                  <a:t>Feature Engineering:</a:t>
                </a:r>
                <a:r>
                  <a:rPr lang="en-IN" dirty="0"/>
                  <a:t> Added key performance metrics </a:t>
                </a:r>
                <a:r>
                  <a:rPr lang="en-IN" dirty="0" err="1"/>
                  <a:t>Profit_Margin_pct</a:t>
                </a:r>
                <a:r>
                  <a:rPr lang="en-IN" dirty="0"/>
                  <a:t> and </a:t>
                </a:r>
                <a:r>
                  <a:rPr lang="en-IN" dirty="0" err="1"/>
                  <a:t>Cost_per_Ha</a:t>
                </a:r>
                <a:r>
                  <a:rPr lang="en-IN" dirty="0"/>
                  <a:t> to evaluate farm efficiency.</a:t>
                </a:r>
              </a:p>
            </p:txBody>
          </p:sp>
        </mc:Choice>
        <mc:Fallback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B19D8AC7-3787-4ADB-9212-0808F015C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832788" y="5232154"/>
                <a:ext cx="10090992" cy="1432806"/>
              </a:xfrm>
              <a:blipFill>
                <a:blip r:embed="rId3"/>
                <a:stretch>
                  <a:fillRect t="-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0D8E5EA-FD11-65A5-091F-87F83D07E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13" y="1188001"/>
            <a:ext cx="9797143" cy="389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E277-CAAE-0A64-F764-72E71E05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9B2B18-F801-F0B4-CE97-8E061949D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D78A31-7CC9-FE60-C3F8-141D777B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70590"/>
            <a:ext cx="11815400" cy="666078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 </a:t>
            </a:r>
            <a:r>
              <a:rPr lang="en-IN" dirty="0"/>
              <a:t>Univariate Distribution 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F7CF1CB-CA9C-D01A-1F0A-4DAC0AB446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FDB912A-02B9-54B0-E115-74B82C73804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088607F-C366-0433-4A17-308A468CD6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2788" y="5232154"/>
            <a:ext cx="10090992" cy="143280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lvl="0"/>
            <a:r>
              <a:rPr lang="en-IN" b="1" dirty="0"/>
              <a:t>Farm Profit Spread:</a:t>
            </a:r>
            <a:r>
              <a:rPr lang="en-IN" dirty="0"/>
              <a:t> Highly right-skewed distribution </a:t>
            </a:r>
            <a:r>
              <a:rPr lang="en-IN" dirty="0" err="1"/>
              <a:t>centered</a:t>
            </a:r>
            <a:r>
              <a:rPr lang="en-IN" dirty="0"/>
              <a:t> near break-even; high positive returns are driven by cash crops like Sugarcane and Chilli</a:t>
            </a:r>
          </a:p>
          <a:p>
            <a:pPr lvl="0"/>
            <a:r>
              <a:rPr lang="en-IN" b="1" dirty="0"/>
              <a:t>Loss Identification:</a:t>
            </a:r>
            <a:r>
              <a:rPr lang="en-IN" dirty="0"/>
              <a:t> Highlights clusters of negative farm profits, identifying vulnerable farming groups operating at a net loss.</a:t>
            </a:r>
          </a:p>
          <a:p>
            <a:pPr lvl="0"/>
            <a:r>
              <a:rPr lang="en-IN" b="1" dirty="0"/>
              <a:t>Rainfall Spread:</a:t>
            </a:r>
            <a:r>
              <a:rPr lang="en-IN" dirty="0"/>
              <a:t> Multi-modal distribution spanning 100 mm to 1,400 mm, capturing distinct arid, semi-arid, and high-monsoon cultivation zones.</a:t>
            </a:r>
          </a:p>
          <a:p>
            <a:pPr lvl="0"/>
            <a:r>
              <a:rPr lang="en-IN" b="1" dirty="0"/>
              <a:t>Baseline </a:t>
            </a:r>
            <a:r>
              <a:rPr lang="en-IN" b="1" dirty="0" err="1"/>
              <a:t>Baseline</a:t>
            </a:r>
            <a:r>
              <a:rPr lang="en-IN" b="1" dirty="0"/>
              <a:t>:</a:t>
            </a:r>
            <a:r>
              <a:rPr lang="en-IN" dirty="0"/>
              <a:t> Verifies variable spreads and data hygiene prior to cross-seasonal bivariate comparisons.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057FE-FCA5-F0E0-269D-DEAC9FA6C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86" y="1313820"/>
            <a:ext cx="5451514" cy="3641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EBDA5-E1F9-2B4A-B5C7-3211F8BC8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682" y="1313820"/>
            <a:ext cx="5372902" cy="364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2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036" y="370589"/>
            <a:ext cx="12328071" cy="823708"/>
          </a:xfrm>
        </p:spPr>
        <p:txBody>
          <a:bodyPr>
            <a:noAutofit/>
          </a:bodyPr>
          <a:lstStyle/>
          <a:p>
            <a:r>
              <a:rPr lang="en-GB" sz="4000" dirty="0"/>
              <a:t>RESULTS-</a:t>
            </a:r>
            <a:r>
              <a:rPr lang="en-IN" sz="4000" dirty="0"/>
              <a:t>Bivariate Analysis: Seasonal Yield &amp; Profit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1519" y="5163938"/>
            <a:ext cx="10940077" cy="1582096"/>
          </a:xfrm>
        </p:spPr>
        <p:txBody>
          <a:bodyPr>
            <a:normAutofit fontScale="92500"/>
          </a:bodyPr>
          <a:lstStyle/>
          <a:p>
            <a:pPr lvl="0"/>
            <a:r>
              <a:rPr lang="en-IN" b="1" dirty="0"/>
              <a:t>Kharif Season:</a:t>
            </a:r>
            <a:r>
              <a:rPr lang="en-IN" dirty="0"/>
              <a:t> Delivers the highest average profit at ₹1,78,915, driven by monsoon conditions.</a:t>
            </a:r>
          </a:p>
          <a:p>
            <a:pPr lvl="0"/>
            <a:r>
              <a:rPr lang="en-IN" b="1" dirty="0"/>
              <a:t>Rabi Season:</a:t>
            </a:r>
            <a:r>
              <a:rPr lang="en-IN" dirty="0"/>
              <a:t> Demonstrates consistent yield output with a stable average profit of ₹87,689.</a:t>
            </a:r>
          </a:p>
          <a:p>
            <a:pPr lvl="0"/>
            <a:r>
              <a:rPr lang="en-IN" b="1" dirty="0"/>
              <a:t>Zaid Season:</a:t>
            </a:r>
            <a:r>
              <a:rPr lang="en-IN" dirty="0"/>
              <a:t> Records an average loss of -₹24,805 due to high irrigation and resource requirements during summer heat.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1B4E4-21A4-044E-17AA-EEF493A4C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28" y="1275371"/>
            <a:ext cx="5696490" cy="35886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7A8641-0FA9-C714-2610-C01A1365E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6" y="1278341"/>
            <a:ext cx="5423588" cy="358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39"/>
            <a:ext cx="9660029" cy="1082331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 </a:t>
            </a:r>
            <a:r>
              <a:rPr lang="en-IN" dirty="0"/>
              <a:t>Bivariate Analysis: Irrigation &amp; Water Efficiency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4697" y="5092505"/>
            <a:ext cx="10445554" cy="1731386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b="1" dirty="0"/>
              <a:t>Drip Irrigation:</a:t>
            </a:r>
            <a:r>
              <a:rPr lang="en-IN" dirty="0"/>
              <a:t> Yields the highest average profit (₹2,19,626) with strong water efficiency (6.27 t/1,000 m³). </a:t>
            </a:r>
          </a:p>
          <a:p>
            <a:pPr lvl="0"/>
            <a:r>
              <a:rPr lang="en-IN" b="1" dirty="0"/>
              <a:t>Flood Irrigation:</a:t>
            </a:r>
            <a:r>
              <a:rPr lang="en-IN" dirty="0"/>
              <a:t> Consumes the highest water volume (~8,026 m³) but produces lower profit (₹73,354). </a:t>
            </a:r>
          </a:p>
          <a:p>
            <a:pPr lvl="0"/>
            <a:r>
              <a:rPr lang="en-IN" dirty="0"/>
              <a:t>Modern micro-irrigation reduces water usage by ~25% while stabilizing yields during water-scarce seasons.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21CC8-A923-6888-8E8B-032546E36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725" y="1765495"/>
            <a:ext cx="5011636" cy="30795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76923D-2D96-45B7-8596-B28662B78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883" y="1765495"/>
            <a:ext cx="5011637" cy="30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9" y="406158"/>
            <a:ext cx="12265602" cy="553142"/>
          </a:xfrm>
        </p:spPr>
        <p:txBody>
          <a:bodyPr>
            <a:noAutofit/>
          </a:bodyPr>
          <a:lstStyle/>
          <a:p>
            <a:r>
              <a:rPr lang="en-GB" sz="4000" dirty="0"/>
              <a:t>RESULTS - </a:t>
            </a:r>
            <a:r>
              <a:rPr lang="en-IN" sz="4000" dirty="0"/>
              <a:t>Crop Profitability &amp; Climate Correlation</a:t>
            </a:r>
            <a:r>
              <a:rPr lang="en-GB" sz="4000" dirty="0"/>
              <a:t> 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941" y="4916553"/>
            <a:ext cx="10800118" cy="1748408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Commercial crops like Sugarcane and Chilli generated the highest profits.</a:t>
            </a:r>
          </a:p>
          <a:p>
            <a:pPr lvl="0"/>
            <a:r>
              <a:rPr lang="en-IN" dirty="0"/>
              <a:t>Staple Grains (Wheat and Rice) operate on narrower margins under heavy input costs.</a:t>
            </a:r>
          </a:p>
          <a:p>
            <a:pPr lvl="0"/>
            <a:r>
              <a:rPr lang="en-IN" dirty="0"/>
              <a:t>Elevated rainfall and humidity strongly correlate with disease and pest risk, peaking at 54.5% during Kharif.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DCEBE0-68D3-4CC9-228C-84AF3C80E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20" y="1275371"/>
            <a:ext cx="5771844" cy="32496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18AE6E-876E-02D4-BC22-2BFF11D39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17" y="1275370"/>
            <a:ext cx="5583783" cy="32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726051" cy="727233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 </a:t>
            </a:r>
            <a:r>
              <a:rPr lang="en-IN" dirty="0"/>
              <a:t>Statistical Hypothesis Testing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F85C769B-425A-FE3B-E47A-3B747985DC52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1031098" y="5063936"/>
                <a:ext cx="10726051" cy="1423475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Executed One-Way ANOVA across Kharif, Rabi, and Zaid profit figures.</a:t>
                </a:r>
              </a:p>
              <a:p>
                <a:r>
                  <a:rPr lang="en-IN" b="1" dirty="0"/>
                  <a:t>F-Statistic:</a:t>
                </a:r>
                <a:r>
                  <a:rPr lang="en-IN" dirty="0"/>
                  <a:t> 34.29 | </a:t>
                </a:r>
                <a:r>
                  <a:rPr lang="en-IN" b="1" dirty="0"/>
                  <a:t>P-Value: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1.71×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−15</m:t>
                        </m:r>
                      </m:sup>
                    </m:sSup>
                  </m:oMath>
                </a14:m>
                <a:r>
                  <a:rPr lang="en-IN" dirty="0"/>
                  <a:t>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&lt;0.05</m:t>
                    </m:r>
                  </m:oMath>
                </a14:m>
                <a:r>
                  <a:rPr lang="en-IN" dirty="0"/>
                  <a:t>).</a:t>
                </a:r>
              </a:p>
              <a:p>
                <a:r>
                  <a:rPr lang="en-IN" dirty="0"/>
                  <a:t>Confirms that profitability differences across seasons are statistically significant.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F85C769B-425A-FE3B-E47A-3B747985D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1031098" y="5063936"/>
                <a:ext cx="10726051" cy="1423475"/>
              </a:xfrm>
              <a:blipFill>
                <a:blip r:embed="rId3"/>
                <a:stretch>
                  <a:fillRect l="-227" t="-3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77FC20-3686-A6C1-C609-732C77C54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92" y="1085951"/>
            <a:ext cx="10074513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8F305-B3CE-6A5C-0B08-3F12A09B4AAD}"/>
              </a:ext>
            </a:extLst>
          </p:cNvPr>
          <p:cNvSpPr txBox="1"/>
          <p:nvPr/>
        </p:nvSpPr>
        <p:spPr>
          <a:xfrm>
            <a:off x="811763" y="1275371"/>
            <a:ext cx="8714792" cy="461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Build a predictive model by i</a:t>
            </a:r>
            <a:r>
              <a:rPr lang="en-IN" dirty="0"/>
              <a:t>mplementing Machine Learning (e.g., Random Forest, </a:t>
            </a:r>
            <a:r>
              <a:rPr lang="en-IN" dirty="0" err="1"/>
              <a:t>XGBoost</a:t>
            </a:r>
            <a:r>
              <a:rPr lang="en-IN" dirty="0"/>
              <a:t>)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for yield and profit </a:t>
            </a:r>
            <a:r>
              <a:rPr lang="en-IN" dirty="0"/>
              <a:t>before the sowing season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Forecast seasonal crop performance using historical 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Integrate real-time weather APIs and soil sensor data for live irrigation recommendations.</a:t>
            </a: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Add time-series weather and market-price data for more accurate agricultural forecasting.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Develop an interactive </a:t>
            </a:r>
            <a:r>
              <a:rPr lang="en-IN" dirty="0"/>
              <a:t>Power BI dashboard for real-time farm monitoring useful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for farmers and agricultural planners.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Extend the analysis with region-level recommendations and optimization of water, fertilizer and irrigation resources.</a:t>
            </a:r>
            <a:endParaRPr lang="en-IN" sz="1200" b="0" i="0" dirty="0">
              <a:solidFill>
                <a:srgbClr val="E3E3E3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A87A3-5B2A-F313-D59F-9B40D67EF4FF}"/>
              </a:ext>
            </a:extLst>
          </p:cNvPr>
          <p:cNvSpPr txBox="1"/>
          <p:nvPr/>
        </p:nvSpPr>
        <p:spPr>
          <a:xfrm>
            <a:off x="601312" y="1224734"/>
            <a:ext cx="9002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hlinkClick r:id="rId3"/>
              </a:rPr>
              <a:t>https://github.com/sutirtha44g/VOIS-Major-Project-Agriculture-Analysis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50950-C76F-50F9-DF46-5A1450F1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016" y="1396750"/>
            <a:ext cx="7198915" cy="50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59" y="265014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68416" y="421565"/>
            <a:ext cx="5598287" cy="1371750"/>
          </a:xfrm>
        </p:spPr>
        <p:txBody>
          <a:bodyPr>
            <a:normAutofit/>
          </a:bodyPr>
          <a:lstStyle/>
          <a:p>
            <a:r>
              <a:rPr lang="en-IN" dirty="0">
                <a:hlinkClick r:id="rId3"/>
              </a:rPr>
              <a:t>GitHub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689</TotalTime>
  <Words>933</Words>
  <Application>Microsoft Office PowerPoint</Application>
  <PresentationFormat>Widescreen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Google Sans Text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 </vt:lpstr>
      <vt:lpstr>WHO ARE THE END USERS?</vt:lpstr>
      <vt:lpstr>Technology Used</vt:lpstr>
      <vt:lpstr>RESULTS -Data Cleaning &amp; Preprocessing</vt:lpstr>
      <vt:lpstr>RESULTS - Univariate Distribution Analysis</vt:lpstr>
      <vt:lpstr>RESULTS-Bivariate Analysis: Seasonal Yield &amp; Profit</vt:lpstr>
      <vt:lpstr>RESULTS - Bivariate Analysis: Irrigation &amp; Water Efficiency</vt:lpstr>
      <vt:lpstr>RESULTS - Crop Profitability &amp; Climate Correlation </vt:lpstr>
      <vt:lpstr>RESULTS - Statistical Hypothesis Testing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Sutirtha Giri</cp:lastModifiedBy>
  <cp:revision>98</cp:revision>
  <dcterms:created xsi:type="dcterms:W3CDTF">2021-07-11T13:13:15Z</dcterms:created>
  <dcterms:modified xsi:type="dcterms:W3CDTF">2026-09-09T17:45:45Z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