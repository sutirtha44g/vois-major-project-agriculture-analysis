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0"/>
  </p:notesMasterIdLst>
  <p:handoutMasterIdLst>
    <p:handoutMasterId r:id="rId21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7" r:id="rId11"/>
    <p:sldId id="340" r:id="rId12"/>
    <p:sldId id="344" r:id="rId13"/>
    <p:sldId id="345" r:id="rId14"/>
    <p:sldId id="346" r:id="rId15"/>
    <p:sldId id="341" r:id="rId16"/>
    <p:sldId id="342" r:id="rId17"/>
    <p:sldId id="343" r:id="rId18"/>
    <p:sldId id="30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5AB8-0413-451C-9551-18EACD208E7F}" v="377" dt="2026-09-09T17:41:04.688"/>
    <p1510:client id="{D18AAB72-F722-4EF2-BC75-05EC0779F2C5}" v="20" dt="2026-09-09T17:49:09.765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50" d="100"/>
          <a:sy n="50" d="100"/>
        </p:scale>
        <p:origin x="38" y="6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tirtha Giri" userId="75dcf3eccc81eff6" providerId="LiveId" clId="{A348778A-A372-42CE-B112-99CCE50CAF71}"/>
    <pc:docChg chg="modSld">
      <pc:chgData name="Sutirtha Giri" userId="75dcf3eccc81eff6" providerId="LiveId" clId="{A348778A-A372-42CE-B112-99CCE50CAF71}" dt="2026-09-09T17:49:09.765" v="19" actId="20577"/>
      <pc:docMkLst>
        <pc:docMk/>
      </pc:docMkLst>
      <pc:sldChg chg="modSp">
        <pc:chgData name="Sutirtha Giri" userId="75dcf3eccc81eff6" providerId="LiveId" clId="{A348778A-A372-42CE-B112-99CCE50CAF71}" dt="2026-09-09T17:49:09.765" v="19" actId="20577"/>
        <pc:sldMkLst>
          <pc:docMk/>
          <pc:sldMk cId="3493729404" sldId="347"/>
        </pc:sldMkLst>
        <pc:spChg chg="mod">
          <ac:chgData name="Sutirtha Giri" userId="75dcf3eccc81eff6" providerId="LiveId" clId="{A348778A-A372-42CE-B112-99CCE50CAF71}" dt="2026-09-09T17:49:09.765" v="19" actId="20577"/>
          <ac:spMkLst>
            <pc:docMk/>
            <pc:sldMk cId="3493729404" sldId="347"/>
            <ac:spMk id="10" creationId="{B088607F-C366-0433-4A17-308A468CD66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9/9/2026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9/9/2026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tirtha44g/VOIS-Major-Project-Agricultur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tirtha44g/VOIS-Major-Project-Agricultur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7406" y="3588198"/>
            <a:ext cx="9105900" cy="15292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0" dirty="0">
                <a:solidFill>
                  <a:schemeClr val="tx1"/>
                </a:solidFill>
              </a:rPr>
              <a:t>Student Name : SUTIRTHA GIRI </a:t>
            </a:r>
            <a:endParaRPr lang="en-IN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College Name : NETAJI SUBHASH ENGINEERING COLLEGE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10145146" cy="743448"/>
          </a:xfrm>
        </p:spPr>
        <p:txBody>
          <a:bodyPr>
            <a:normAutofit fontScale="90000"/>
          </a:bodyPr>
          <a:lstStyle/>
          <a:p>
            <a:r>
              <a:rPr lang="en-GB" sz="3200" dirty="0"/>
              <a:t>Project Title - </a:t>
            </a:r>
            <a:r>
              <a:rPr lang="en-IN" dirty="0"/>
              <a:t>Seasonal Agriculture Performance Analysis</a:t>
            </a:r>
            <a:br>
              <a:rPr lang="en-IN" dirty="0"/>
            </a:b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957405" y="4576469"/>
            <a:ext cx="6497753" cy="3661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STU6a6050cd2e1271784697037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5957" y="1517587"/>
            <a:ext cx="7889545" cy="477727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IN" sz="1600" dirty="0"/>
              <a:t>Agricultural activities are influenced by seasonal variations in environmental conditions, farming practices, resource availability and market conditions. As a result, agricultural performance may differ from one season to another.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IN" sz="1600" dirty="0"/>
              <a:t> However, raw agricultural data does not clearly explain how agricultural performance changes across seasons or what patterns can be observed in different seasonal conditions.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IN" sz="1600" dirty="0"/>
              <a:t>The problem is to </a:t>
            </a:r>
            <a:r>
              <a:rPr lang="en-IN" sz="1600" dirty="0" err="1"/>
              <a:t>analyze</a:t>
            </a:r>
            <a:r>
              <a:rPr lang="en-IN" sz="1600" dirty="0"/>
              <a:t> the given agricultural dataset and investigate seasonal differences in agricultural performance by identifying meaningful patterns, trends, relationships and variations within the available data.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IN" sz="1600" b="1" dirty="0"/>
              <a:t>Key Questions Addressed:</a:t>
            </a:r>
            <a:endParaRPr lang="en-IN" sz="1600" dirty="0"/>
          </a:p>
          <a:p>
            <a:pPr lvl="0"/>
            <a:r>
              <a:rPr lang="en-IN" sz="1600" dirty="0"/>
              <a:t>How do crop yield and net profit vary across different cropping seasons?</a:t>
            </a:r>
          </a:p>
          <a:p>
            <a:pPr lvl="0"/>
            <a:r>
              <a:rPr lang="en-IN" sz="1600" dirty="0"/>
              <a:t>What are the environmental determinants (rainfall, humidity, temperature) of seasonal performance?</a:t>
            </a:r>
          </a:p>
          <a:p>
            <a:pPr lvl="0"/>
            <a:r>
              <a:rPr lang="en-IN" sz="1600" dirty="0"/>
              <a:t>Which irrigation techniques maximize water efficiency and economic returns?</a:t>
            </a:r>
          </a:p>
          <a:p>
            <a:pPr lvl="0"/>
            <a:r>
              <a:rPr lang="en-IN" sz="1600" dirty="0"/>
              <a:t>Are profitability differences across seasons statistically significant?</a:t>
            </a:r>
          </a:p>
          <a:p>
            <a:pPr marL="0" indent="0">
              <a:lnSpc>
                <a:spcPct val="100000"/>
              </a:lnSpc>
              <a:buNone/>
            </a:pPr>
            <a:endParaRPr lang="en-IN" sz="1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4BDD56-69F6-959F-DFAB-E7F4E8C05DA4}"/>
                  </a:ext>
                </a:extLst>
              </p:cNvPr>
              <p:cNvSpPr txBox="1"/>
              <p:nvPr/>
            </p:nvSpPr>
            <p:spPr>
              <a:xfrm>
                <a:off x="688398" y="1697669"/>
                <a:ext cx="10082239" cy="45305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lang="en-IN" b="1" dirty="0"/>
                  <a:t>Dataset Scope:</a:t>
                </a:r>
                <a:r>
                  <a:rPr lang="en-IN" dirty="0"/>
                  <a:t> </a:t>
                </a:r>
                <a:r>
                  <a:rPr lang="en-IN" dirty="0" err="1"/>
                  <a:t>Analyzes</a:t>
                </a:r>
                <a:r>
                  <a:rPr lang="en-IN" dirty="0"/>
                  <a:t> 4,000 farm-level observations across 28 distinct attributes covering 8 major crop varieties and 8 agricultural states.</a:t>
                </a:r>
              </a:p>
              <a:p>
                <a:pPr lvl="0"/>
                <a:endParaRPr lang="en-IN" dirty="0"/>
              </a:p>
              <a:p>
                <a:pPr lvl="0"/>
                <a:r>
                  <a:rPr lang="en-IN" b="1" dirty="0"/>
                  <a:t>Analytical Focus:</a:t>
                </a:r>
                <a:r>
                  <a:rPr lang="en-IN" dirty="0"/>
                  <a:t> Evaluates the interplay between seasonal climate factors, soil health, irrigation efficiency, and economic returns rather than performing a generic dataset overview.</a:t>
                </a:r>
              </a:p>
              <a:p>
                <a:pPr lvl="0"/>
                <a:endParaRPr lang="en-IN" dirty="0"/>
              </a:p>
              <a:p>
                <a:r>
                  <a:rPr lang="en-IN" b="1" dirty="0"/>
                  <a:t>Core Dimensions Investigated:</a:t>
                </a:r>
              </a:p>
              <a:p>
                <a:endParaRPr lang="en-IN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IN" b="1" dirty="0"/>
                  <a:t>Seasonal Yield &amp; Production:</a:t>
                </a:r>
                <a:r>
                  <a:rPr lang="en-IN" dirty="0"/>
                  <a:t> Comparing crop output and stability across Kharif, Rabi, and Zaid.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IN" b="1" dirty="0"/>
                  <a:t>Environmental Impact:</a:t>
                </a:r>
                <a:r>
                  <a:rPr lang="en-IN" dirty="0"/>
                  <a:t> Evaluating the effects of rainfall, temperature, and humidity on pest/disease risks.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IN" b="1" dirty="0"/>
                  <a:t>Resource Management:</a:t>
                </a:r>
                <a:r>
                  <a:rPr lang="en-IN" dirty="0"/>
                  <a:t> Benchmarking water efficiency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IN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IN" dirty="0"/>
                  <a:t>) across drip, sprinkler, flood, and rainfed systems.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IN" b="1" dirty="0"/>
                  <a:t>Financial Viability:</a:t>
                </a:r>
                <a:r>
                  <a:rPr lang="en-IN" dirty="0"/>
                  <a:t> Measuring production costs, market revenue, and net margins across crop categories.</a:t>
                </a:r>
                <a:endParaRPr lang="en-IN" b="0" i="0" dirty="0">
                  <a:solidFill>
                    <a:srgbClr val="E3E3E3"/>
                  </a:solidFill>
                  <a:effectLst/>
                  <a:latin typeface="Google Sans Text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4BDD56-69F6-959F-DFAB-E7F4E8C05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98" y="1697669"/>
                <a:ext cx="10082239" cy="4530536"/>
              </a:xfrm>
              <a:prstGeom prst="rect">
                <a:avLst/>
              </a:prstGeom>
              <a:blipFill>
                <a:blip r:embed="rId4"/>
                <a:stretch>
                  <a:fillRect l="-544" t="-806" b="-67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60" y="1991360"/>
            <a:ext cx="7853474" cy="3990023"/>
          </a:xfrm>
        </p:spPr>
        <p:txBody>
          <a:bodyPr>
            <a:normAutofit fontScale="62500" lnSpcReduction="20000"/>
          </a:bodyPr>
          <a:lstStyle/>
          <a:p>
            <a:pPr algn="just">
              <a:lnSpc>
                <a:spcPct val="100000"/>
              </a:lnSpc>
            </a:pPr>
            <a:r>
              <a:rPr lang="en-IN" sz="3600" b="1" dirty="0"/>
              <a:t>Farmers &amp; Cultivators:</a:t>
            </a:r>
            <a:r>
              <a:rPr lang="en-IN" sz="3600" dirty="0"/>
              <a:t> For selecting the most profitable and high-yielding crops suited to specific seasons.</a:t>
            </a:r>
          </a:p>
          <a:p>
            <a:pPr algn="just">
              <a:lnSpc>
                <a:spcPct val="100000"/>
              </a:lnSpc>
            </a:pPr>
            <a:r>
              <a:rPr lang="en-IN" sz="3600" b="1" dirty="0"/>
              <a:t>Agricultural Planners &amp; Policy Makers:</a:t>
            </a:r>
            <a:r>
              <a:rPr lang="en-IN" sz="3600" dirty="0"/>
              <a:t> For designing regional water distribution plans and seasonal subsidies.</a:t>
            </a:r>
          </a:p>
          <a:p>
            <a:pPr algn="just">
              <a:lnSpc>
                <a:spcPct val="100000"/>
              </a:lnSpc>
            </a:pPr>
            <a:r>
              <a:rPr lang="en-IN" sz="3600" b="1" dirty="0"/>
              <a:t>Agribusinesses &amp; Supply Chain Managers:</a:t>
            </a:r>
            <a:r>
              <a:rPr lang="en-IN" sz="3600" dirty="0"/>
              <a:t> For predicting seasonal commodity supply and market pricing trends. </a:t>
            </a:r>
          </a:p>
          <a:p>
            <a:pPr algn="just">
              <a:lnSpc>
                <a:spcPct val="100000"/>
              </a:lnSpc>
            </a:pPr>
            <a:r>
              <a:rPr lang="en-IN" sz="3600" b="1" dirty="0"/>
              <a:t>Agronomists &amp; Researchers:</a:t>
            </a:r>
            <a:r>
              <a:rPr lang="en-IN" sz="3600" dirty="0"/>
              <a:t> For studying the impact of climate variations and irrigation efficiency on crop yield.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631589" y="1441891"/>
            <a:ext cx="7213831" cy="3438020"/>
          </a:xfrm>
        </p:spPr>
        <p:txBody>
          <a:bodyPr/>
          <a:lstStyle/>
          <a:p>
            <a:pPr marL="457200" lvl="1" indent="0">
              <a:lnSpc>
                <a:spcPct val="150000"/>
              </a:lnSpc>
              <a:buNone/>
            </a:pPr>
            <a:r>
              <a:rPr lang="en-IN" dirty="0"/>
              <a:t>Technologies used in this project are:</a:t>
            </a:r>
          </a:p>
          <a:p>
            <a:pPr lvl="1">
              <a:lnSpc>
                <a:spcPct val="100000"/>
              </a:lnSpc>
            </a:pPr>
            <a:r>
              <a:rPr lang="en-IN" b="1" dirty="0"/>
              <a:t>Language:</a:t>
            </a:r>
            <a:r>
              <a:rPr lang="en-IN" dirty="0"/>
              <a:t> Python</a:t>
            </a:r>
          </a:p>
          <a:p>
            <a:pPr lvl="1">
              <a:lnSpc>
                <a:spcPct val="100000"/>
              </a:lnSpc>
            </a:pPr>
            <a:r>
              <a:rPr lang="en-IN" b="1" dirty="0"/>
              <a:t>Data Manipulation:</a:t>
            </a:r>
            <a:r>
              <a:rPr lang="en-IN" dirty="0"/>
              <a:t> Pandas, NumPy</a:t>
            </a:r>
          </a:p>
          <a:p>
            <a:pPr lvl="1">
              <a:lnSpc>
                <a:spcPct val="100000"/>
              </a:lnSpc>
            </a:pPr>
            <a:r>
              <a:rPr lang="en-IN" b="1" dirty="0"/>
              <a:t>Data Visualization:</a:t>
            </a:r>
            <a:r>
              <a:rPr lang="en-IN" dirty="0"/>
              <a:t> Matplotlib, Seaborn</a:t>
            </a:r>
          </a:p>
          <a:p>
            <a:pPr lvl="1">
              <a:lnSpc>
                <a:spcPct val="100000"/>
              </a:lnSpc>
            </a:pPr>
            <a:r>
              <a:rPr lang="en-IN" b="1" dirty="0"/>
              <a:t>Statistical Analysis:</a:t>
            </a:r>
            <a:r>
              <a:rPr lang="en-IN" dirty="0"/>
              <a:t> SciPy (</a:t>
            </a:r>
            <a:r>
              <a:rPr lang="en-IN" dirty="0" err="1"/>
              <a:t>scipy.stats</a:t>
            </a:r>
            <a:r>
              <a:rPr lang="en-IN" dirty="0"/>
              <a:t>)</a:t>
            </a:r>
          </a:p>
          <a:p>
            <a:pPr lvl="1">
              <a:lnSpc>
                <a:spcPct val="100000"/>
              </a:lnSpc>
            </a:pPr>
            <a:r>
              <a:rPr lang="en-IN" b="1" dirty="0"/>
              <a:t>Environment:</a:t>
            </a:r>
            <a:r>
              <a:rPr lang="en-IN" dirty="0"/>
              <a:t> Google </a:t>
            </a:r>
            <a:r>
              <a:rPr lang="en-IN" dirty="0" err="1"/>
              <a:t>Colab</a:t>
            </a: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82" y="370590"/>
            <a:ext cx="11815400" cy="666078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-</a:t>
            </a:r>
            <a:r>
              <a:rPr lang="en-IN" dirty="0"/>
              <a:t>Data Cleaning &amp; Preprocessing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Placeholder 1">
                <a:extLst>
                  <a:ext uri="{FF2B5EF4-FFF2-40B4-BE49-F238E27FC236}">
                    <a16:creationId xmlns:a16="http://schemas.microsoft.com/office/drawing/2014/main" id="{B19D8AC7-3787-4ADB-9212-0808F015C2DD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>
              <a:xfrm>
                <a:off x="832788" y="5232154"/>
                <a:ext cx="10090992" cy="1432806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lvl="0"/>
                <a:r>
                  <a:rPr lang="en-IN" b="1" dirty="0"/>
                  <a:t>Missing Value Imputation:</a:t>
                </a:r>
                <a:r>
                  <a:rPr lang="en-IN" dirty="0"/>
                  <a:t> Handled missing records in </a:t>
                </a:r>
                <a:r>
                  <a:rPr lang="en-IN" dirty="0" err="1"/>
                  <a:t>Rainfall_mm</a:t>
                </a:r>
                <a:r>
                  <a:rPr lang="en-IN" dirty="0"/>
                  <a:t> (48), </a:t>
                </a:r>
                <a:r>
                  <a:rPr lang="en-IN" dirty="0" err="1"/>
                  <a:t>Soil_Moisture_pct</a:t>
                </a:r>
                <a:r>
                  <a:rPr lang="en-IN" dirty="0"/>
                  <a:t> (40), and </a:t>
                </a:r>
                <a:r>
                  <a:rPr lang="en-IN" dirty="0" err="1"/>
                  <a:t>Yield_Tonnes_Ha</a:t>
                </a:r>
                <a:r>
                  <a:rPr lang="en-IN" dirty="0"/>
                  <a:t> (32).</a:t>
                </a:r>
              </a:p>
              <a:p>
                <a:pPr lvl="0"/>
                <a:r>
                  <a:rPr lang="en-IN" b="1" dirty="0"/>
                  <a:t>Seasonal Logic:</a:t>
                </a:r>
                <a:r>
                  <a:rPr lang="en-IN" dirty="0"/>
                  <a:t> Filled environmental variables using seasonal medians to prevent seasonal skewness. </a:t>
                </a:r>
              </a:p>
              <a:p>
                <a:pPr lvl="0"/>
                <a:r>
                  <a:rPr lang="en-IN" b="1" dirty="0"/>
                  <a:t>Integrity Recalculation:</a:t>
                </a:r>
                <a:r>
                  <a:rPr lang="en-IN" dirty="0"/>
                  <a:t> Recomputed missing yields directly using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N" i="0"/>
                      <m:t>Production</m:t>
                    </m:r>
                    <m:r>
                      <a:rPr lang="en-IN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IN" i="0"/>
                      <m:t>Area</m:t>
                    </m:r>
                  </m:oMath>
                </a14:m>
                <a:r>
                  <a:rPr lang="en-IN" dirty="0"/>
                  <a:t>.</a:t>
                </a:r>
              </a:p>
              <a:p>
                <a:pPr lvl="0"/>
                <a:r>
                  <a:rPr lang="en-IN" b="1" dirty="0"/>
                  <a:t>Feature Engineering:</a:t>
                </a:r>
                <a:r>
                  <a:rPr lang="en-IN" dirty="0"/>
                  <a:t> Added key performance metrics </a:t>
                </a:r>
                <a:r>
                  <a:rPr lang="en-IN" dirty="0" err="1"/>
                  <a:t>Profit_Margin_pct</a:t>
                </a:r>
                <a:r>
                  <a:rPr lang="en-IN" dirty="0"/>
                  <a:t> and </a:t>
                </a:r>
                <a:r>
                  <a:rPr lang="en-IN" dirty="0" err="1"/>
                  <a:t>Cost_per_Ha</a:t>
                </a:r>
                <a:r>
                  <a:rPr lang="en-IN" dirty="0"/>
                  <a:t> to evaluate farm efficiency.</a:t>
                </a:r>
              </a:p>
            </p:txBody>
          </p:sp>
        </mc:Choice>
        <mc:Fallback xmlns="">
          <p:sp>
            <p:nvSpPr>
              <p:cNvPr id="10" name="Text Placeholder 1">
                <a:extLst>
                  <a:ext uri="{FF2B5EF4-FFF2-40B4-BE49-F238E27FC236}">
                    <a16:creationId xmlns:a16="http://schemas.microsoft.com/office/drawing/2014/main" id="{B19D8AC7-3787-4ADB-9212-0808F015C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xfrm>
                <a:off x="832788" y="5232154"/>
                <a:ext cx="10090992" cy="1432806"/>
              </a:xfrm>
              <a:blipFill>
                <a:blip r:embed="rId3"/>
                <a:stretch>
                  <a:fillRect t="-383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B0D8E5EA-FD11-65A5-091F-87F83D07E7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713" y="1188001"/>
            <a:ext cx="9797143" cy="38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5E277-CAAE-0A64-F764-72E71E050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9B2B18-F801-F0B4-CE97-8E061949D2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0D78A31-7CC9-FE60-C3F8-141D777B8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82" y="370590"/>
            <a:ext cx="11815400" cy="666078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- </a:t>
            </a:r>
            <a:r>
              <a:rPr lang="en-IN" dirty="0"/>
              <a:t>Univariate Distribution Analysis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1F7CF1CB-CA9C-D01A-1F0A-4DAC0AB44638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3FDB912A-02B9-54B0-E115-74B82C73804C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088607F-C366-0433-4A17-308A468CD6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2788" y="5232154"/>
            <a:ext cx="10090992" cy="1432806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 lvl="0"/>
            <a:r>
              <a:rPr lang="en-IN" b="1" dirty="0"/>
              <a:t>Farm Profit Spread:</a:t>
            </a:r>
            <a:r>
              <a:rPr lang="en-IN" dirty="0"/>
              <a:t> Highly right-skewed distribution </a:t>
            </a:r>
            <a:r>
              <a:rPr lang="en-IN" dirty="0" err="1"/>
              <a:t>centered</a:t>
            </a:r>
            <a:r>
              <a:rPr lang="en-IN" dirty="0"/>
              <a:t> near break-even; high positive returns are driven by cash crops like Sugarcane and Chilli</a:t>
            </a:r>
          </a:p>
          <a:p>
            <a:pPr lvl="0"/>
            <a:r>
              <a:rPr lang="en-IN" b="1" dirty="0"/>
              <a:t>Loss Identification:</a:t>
            </a:r>
            <a:r>
              <a:rPr lang="en-IN" dirty="0"/>
              <a:t> Highlights clusters of negative farm profits, identifying vulnerable farming groups operating at a net loss.</a:t>
            </a:r>
          </a:p>
          <a:p>
            <a:pPr lvl="0"/>
            <a:r>
              <a:rPr lang="en-IN" b="1" dirty="0"/>
              <a:t>Rainfall Spread:</a:t>
            </a:r>
            <a:r>
              <a:rPr lang="en-IN" dirty="0"/>
              <a:t> Multi-modal distribution spanning 100 mm to 1,400 mm, capturing distinct arid, semi-arid, and high-monsoon cultivation zones.</a:t>
            </a:r>
          </a:p>
          <a:p>
            <a:pPr lvl="0"/>
            <a:r>
              <a:rPr lang="en-IN" b="1"/>
              <a:t>Baseline Analysis</a:t>
            </a:r>
            <a:r>
              <a:rPr lang="en-IN" b="1" dirty="0"/>
              <a:t>:</a:t>
            </a:r>
            <a:r>
              <a:rPr lang="en-IN" dirty="0"/>
              <a:t> Verifies variable spreads and data hygiene prior to cross-seasonal bivariate comparisons.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A057FE-FCA5-F0E0-269D-DEAC9FA6C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86" y="1313820"/>
            <a:ext cx="5451514" cy="36411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4EBDA5-E1F9-2B4A-B5C7-3211F8BC88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8682" y="1313820"/>
            <a:ext cx="5372902" cy="3641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729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8036" y="370589"/>
            <a:ext cx="12328071" cy="823708"/>
          </a:xfrm>
        </p:spPr>
        <p:txBody>
          <a:bodyPr>
            <a:noAutofit/>
          </a:bodyPr>
          <a:lstStyle/>
          <a:p>
            <a:r>
              <a:rPr lang="en-GB" sz="4000" dirty="0"/>
              <a:t>RESULTS-</a:t>
            </a:r>
            <a:r>
              <a:rPr lang="en-IN" sz="4000" dirty="0"/>
              <a:t>Bivariate Analysis: Seasonal Yield &amp; Profit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81519" y="5163938"/>
            <a:ext cx="10940077" cy="1582096"/>
          </a:xfrm>
        </p:spPr>
        <p:txBody>
          <a:bodyPr>
            <a:normAutofit fontScale="92500"/>
          </a:bodyPr>
          <a:lstStyle/>
          <a:p>
            <a:pPr lvl="0"/>
            <a:r>
              <a:rPr lang="en-IN" b="1" dirty="0"/>
              <a:t>Kharif Season:</a:t>
            </a:r>
            <a:r>
              <a:rPr lang="en-IN" dirty="0"/>
              <a:t> Delivers the highest average profit at ₹1,78,915, driven by monsoon conditions.</a:t>
            </a:r>
          </a:p>
          <a:p>
            <a:pPr lvl="0"/>
            <a:r>
              <a:rPr lang="en-IN" b="1" dirty="0"/>
              <a:t>Rabi Season:</a:t>
            </a:r>
            <a:r>
              <a:rPr lang="en-IN" dirty="0"/>
              <a:t> Demonstrates consistent yield output with a stable average profit of ₹87,689.</a:t>
            </a:r>
          </a:p>
          <a:p>
            <a:pPr lvl="0"/>
            <a:r>
              <a:rPr lang="en-IN" b="1" dirty="0"/>
              <a:t>Zaid Season:</a:t>
            </a:r>
            <a:r>
              <a:rPr lang="en-IN" dirty="0"/>
              <a:t> Records an average loss of -₹24,805 due to high irrigation and resource requirements during summer heat.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B1B4E4-21A4-044E-17AA-EEF493A4C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528" y="1275371"/>
            <a:ext cx="5696490" cy="35886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67A8641-0FA9-C714-2610-C01A1365E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886" y="1278341"/>
            <a:ext cx="5423588" cy="358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39"/>
            <a:ext cx="9660029" cy="1082331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- </a:t>
            </a:r>
            <a:r>
              <a:rPr lang="en-IN" dirty="0"/>
              <a:t>Bivariate Analysis: Irrigation &amp; Water Efficiency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4697" y="5092505"/>
            <a:ext cx="10445554" cy="1731386"/>
          </a:xfrm>
        </p:spPr>
        <p:txBody>
          <a:bodyPr>
            <a:normAutofit fontScale="85000" lnSpcReduction="20000"/>
          </a:bodyPr>
          <a:lstStyle/>
          <a:p>
            <a:pPr lvl="0"/>
            <a:r>
              <a:rPr lang="en-IN" b="1" dirty="0"/>
              <a:t>Drip Irrigation:</a:t>
            </a:r>
            <a:r>
              <a:rPr lang="en-IN" dirty="0"/>
              <a:t> Yields the highest average profit (₹2,19,626) with strong water efficiency (6.27 t/1,000 m³). </a:t>
            </a:r>
          </a:p>
          <a:p>
            <a:pPr lvl="0"/>
            <a:r>
              <a:rPr lang="en-IN" b="1" dirty="0"/>
              <a:t>Flood Irrigation:</a:t>
            </a:r>
            <a:r>
              <a:rPr lang="en-IN" dirty="0"/>
              <a:t> Consumes the highest water volume (~8,026 m³) but produces lower profit (₹73,354). </a:t>
            </a:r>
          </a:p>
          <a:p>
            <a:pPr lvl="0"/>
            <a:r>
              <a:rPr lang="en-IN" dirty="0"/>
              <a:t>Modern micro-irrigation reduces water usage by ~25% while stabilizing yields during water-scarce seasons.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E21CC8-A923-6888-8E8B-032546E36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725" y="1765495"/>
            <a:ext cx="5011636" cy="30795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76923D-2D96-45B7-8596-B28662B78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3883" y="1765495"/>
            <a:ext cx="5011637" cy="3079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19" y="406158"/>
            <a:ext cx="12265602" cy="553142"/>
          </a:xfrm>
        </p:spPr>
        <p:txBody>
          <a:bodyPr>
            <a:noAutofit/>
          </a:bodyPr>
          <a:lstStyle/>
          <a:p>
            <a:r>
              <a:rPr lang="en-GB" sz="4000" dirty="0"/>
              <a:t>RESULTS - </a:t>
            </a:r>
            <a:r>
              <a:rPr lang="en-IN" sz="4000" dirty="0"/>
              <a:t>Crop Profitability &amp; Climate Correlation</a:t>
            </a:r>
            <a:r>
              <a:rPr lang="en-GB" sz="4000" dirty="0"/>
              <a:t> 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5941" y="4916553"/>
            <a:ext cx="10800118" cy="1748408"/>
          </a:xfrm>
        </p:spPr>
        <p:txBody>
          <a:bodyPr>
            <a:normAutofit/>
          </a:bodyPr>
          <a:lstStyle/>
          <a:p>
            <a:pPr lvl="0"/>
            <a:r>
              <a:rPr lang="en-IN" dirty="0"/>
              <a:t>Commercial crops like Sugarcane and Chilli generated the highest profits.</a:t>
            </a:r>
          </a:p>
          <a:p>
            <a:pPr lvl="0"/>
            <a:r>
              <a:rPr lang="en-IN" dirty="0"/>
              <a:t>Staple Grains (Wheat and Rice) operate on narrower margins under heavy input costs.</a:t>
            </a:r>
          </a:p>
          <a:p>
            <a:pPr lvl="0"/>
            <a:r>
              <a:rPr lang="en-IN" dirty="0"/>
              <a:t>Elevated rainfall and humidity strongly correlate with disease and pest risk, peaking at 54.5% during Kharif.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DCEBE0-68D3-4CC9-228C-84AF3C80E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0820" y="1275371"/>
            <a:ext cx="5771844" cy="324961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E18AE6E-876E-02D4-BC22-2BFF11D39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217" y="1275370"/>
            <a:ext cx="5583783" cy="324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10726051" cy="727233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- </a:t>
            </a:r>
            <a:r>
              <a:rPr lang="en-IN" dirty="0"/>
              <a:t>Statistical Hypothesis Testing</a:t>
            </a:r>
            <a:br>
              <a:rPr lang="en-IN" dirty="0"/>
            </a:b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Placeholder 1">
                <a:extLst>
                  <a:ext uri="{FF2B5EF4-FFF2-40B4-BE49-F238E27FC236}">
                    <a16:creationId xmlns:a16="http://schemas.microsoft.com/office/drawing/2014/main" id="{F85C769B-425A-FE3B-E47A-3B747985DC52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>
              <a:xfrm>
                <a:off x="1031098" y="5063936"/>
                <a:ext cx="10726051" cy="1423475"/>
              </a:xfrm>
            </p:spPr>
            <p:txBody>
              <a:bodyPr>
                <a:normAutofit/>
              </a:bodyPr>
              <a:lstStyle/>
              <a:p>
                <a:r>
                  <a:rPr lang="en-IN" dirty="0"/>
                  <a:t>Executed One-Way ANOVA across Kharif, Rabi, and Zaid profit figures.</a:t>
                </a:r>
              </a:p>
              <a:p>
                <a:r>
                  <a:rPr lang="en-IN" b="1" dirty="0"/>
                  <a:t>F-Statistic:</a:t>
                </a:r>
                <a:r>
                  <a:rPr lang="en-IN" dirty="0"/>
                  <a:t> 34.29 | </a:t>
                </a:r>
                <a:r>
                  <a:rPr lang="en-IN" b="1" dirty="0"/>
                  <a:t>P-Value:</a:t>
                </a:r>
                <a:r>
                  <a:rPr lang="en-IN" dirty="0"/>
                  <a:t> </a:t>
                </a:r>
                <a14:m>
                  <m:oMath xmlns:m="http://schemas.openxmlformats.org/officeDocument/2006/math">
                    <m:r>
                      <a:rPr lang="en-IN">
                        <a:latin typeface="Cambria Math" panose="02040503050406030204" pitchFamily="18" charset="0"/>
                      </a:rPr>
                      <m:t>1.71×</m:t>
                    </m:r>
                    <m:sSup>
                      <m:sSupPr>
                        <m:ctrlPr>
                          <a:rPr lang="en-IN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IN">
                            <a:latin typeface="Cambria Math" panose="02040503050406030204" pitchFamily="18" charset="0"/>
                          </a:rPr>
                          <m:t>−15</m:t>
                        </m:r>
                      </m:sup>
                    </m:sSup>
                  </m:oMath>
                </a14:m>
                <a:r>
                  <a:rPr lang="en-IN" dirty="0"/>
                  <a:t>(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IN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IN" dirty="0"/>
                  <a:t>).</a:t>
                </a:r>
              </a:p>
              <a:p>
                <a:r>
                  <a:rPr lang="en-IN" dirty="0"/>
                  <a:t>Confirms that profitability differences across seasons are statistically significant.</a:t>
                </a:r>
              </a:p>
              <a:p>
                <a:pPr marL="0" indent="0">
                  <a:buNone/>
                </a:pPr>
                <a:endParaRPr lang="en-IN" dirty="0"/>
              </a:p>
            </p:txBody>
          </p:sp>
        </mc:Choice>
        <mc:Fallback xmlns="">
          <p:sp>
            <p:nvSpPr>
              <p:cNvPr id="10" name="Text Placeholder 1">
                <a:extLst>
                  <a:ext uri="{FF2B5EF4-FFF2-40B4-BE49-F238E27FC236}">
                    <a16:creationId xmlns:a16="http://schemas.microsoft.com/office/drawing/2014/main" id="{F85C769B-425A-FE3B-E47A-3B747985DC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xfrm>
                <a:off x="1031098" y="5063936"/>
                <a:ext cx="10726051" cy="1423475"/>
              </a:xfrm>
              <a:blipFill>
                <a:blip r:embed="rId3"/>
                <a:stretch>
                  <a:fillRect l="-227" t="-300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77FC20-3686-A6C1-C609-732C77C54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92" y="1085951"/>
            <a:ext cx="10074513" cy="3977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08F305-B3CE-6A5C-0B08-3F12A09B4AAD}"/>
              </a:ext>
            </a:extLst>
          </p:cNvPr>
          <p:cNvSpPr txBox="1"/>
          <p:nvPr/>
        </p:nvSpPr>
        <p:spPr>
          <a:xfrm>
            <a:off x="811763" y="1275371"/>
            <a:ext cx="8714792" cy="4618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Build a predictive model by i</a:t>
            </a:r>
            <a:r>
              <a:rPr lang="en-IN" dirty="0"/>
              <a:t>mplementing Machine Learning (e.g., Random Forest, </a:t>
            </a:r>
            <a:r>
              <a:rPr lang="en-IN" dirty="0" err="1"/>
              <a:t>XGBoost</a:t>
            </a:r>
            <a:r>
              <a:rPr lang="en-IN" dirty="0"/>
              <a:t>)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for yield and profit </a:t>
            </a:r>
            <a:r>
              <a:rPr lang="en-IN" dirty="0"/>
              <a:t>before the sowing season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marL="342900" lvl="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Forecast seasonal crop performance using historical data.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Integrate real-time weather APIs and soil sensor data for live irrigation recommendations.</a:t>
            </a:r>
            <a:endParaRPr lang="en-IN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Add time-series weather and market-price data for more accurate agricultural forecasting.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Develop an interactive </a:t>
            </a:r>
            <a:r>
              <a:rPr lang="en-IN" dirty="0"/>
              <a:t>Power BI dashboard for real-time farm monitoring useful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for farmers and agricultural planners.</a:t>
            </a:r>
          </a:p>
          <a:p>
            <a:pPr marL="342900" lvl="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Extend the analysis with region-level recommendations and optimization of water, fertilizer and irrigation resources.</a:t>
            </a:r>
            <a:endParaRPr lang="en-IN" sz="1200" b="0" i="0" dirty="0">
              <a:solidFill>
                <a:srgbClr val="E3E3E3"/>
              </a:solidFill>
              <a:effectLst/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2A87A3-5B2A-F313-D59F-9B40D67EF4FF}"/>
              </a:ext>
            </a:extLst>
          </p:cNvPr>
          <p:cNvSpPr txBox="1"/>
          <p:nvPr/>
        </p:nvSpPr>
        <p:spPr>
          <a:xfrm>
            <a:off x="601312" y="1224734"/>
            <a:ext cx="90026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hlinkClick r:id="rId3"/>
              </a:rPr>
              <a:t>https://github.com/sutirtha44g/VOIS-Major-Project-Agriculture-Analysis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350950-C76F-50F9-DF46-5A1450F1F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016" y="1396750"/>
            <a:ext cx="7198915" cy="509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559" y="2650144"/>
            <a:ext cx="11340000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68416" y="421565"/>
            <a:ext cx="5598287" cy="1371750"/>
          </a:xfrm>
        </p:spPr>
        <p:txBody>
          <a:bodyPr>
            <a:normAutofit/>
          </a:bodyPr>
          <a:lstStyle/>
          <a:p>
            <a:r>
              <a:rPr lang="en-IN" dirty="0">
                <a:hlinkClick r:id="rId3"/>
              </a:rPr>
              <a:t>GitHub Repository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689</TotalTime>
  <Words>933</Words>
  <Application>Microsoft Office PowerPoint</Application>
  <PresentationFormat>Widescreen</PresentationFormat>
  <Paragraphs>77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Cambria Math</vt:lpstr>
      <vt:lpstr>Google Sans Text</vt:lpstr>
      <vt:lpstr>Trebuchet MS</vt:lpstr>
      <vt:lpstr>Wingdings</vt:lpstr>
      <vt:lpstr>Wingdings 3</vt:lpstr>
      <vt:lpstr>Facet</vt:lpstr>
      <vt:lpstr>Project Title - Seasonal Agriculture Performance Analysis </vt:lpstr>
      <vt:lpstr>PROBLEM  STATEMENT</vt:lpstr>
      <vt:lpstr>Project Description  </vt:lpstr>
      <vt:lpstr>WHO ARE THE END USERS?</vt:lpstr>
      <vt:lpstr>Technology Used</vt:lpstr>
      <vt:lpstr>RESULTS -Data Cleaning &amp; Preprocessing</vt:lpstr>
      <vt:lpstr>RESULTS - Univariate Distribution Analysis</vt:lpstr>
      <vt:lpstr>RESULTS-Bivariate Analysis: Seasonal Yield &amp; Profit</vt:lpstr>
      <vt:lpstr>RESULTS - Bivariate Analysis: Irrigation &amp; Water Efficiency</vt:lpstr>
      <vt:lpstr>RESULTS - Crop Profitability &amp; Climate Correlation </vt:lpstr>
      <vt:lpstr>RESULTS - Statistical Hypothesis Testing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Sutirtha Giri</cp:lastModifiedBy>
  <cp:revision>98</cp:revision>
  <dcterms:created xsi:type="dcterms:W3CDTF">2021-07-11T13:13:15Z</dcterms:created>
  <dcterms:modified xsi:type="dcterms:W3CDTF">2026-09-09T17:49:11Z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